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3" r:id="rId4"/>
    <p:sldMasterId id="2147483655" r:id="rId5"/>
    <p:sldMasterId id="2147483657" r:id="rId6"/>
    <p:sldMasterId id="2147483659" r:id="rId7"/>
    <p:sldMasterId id="2147483661" r:id="rId8"/>
    <p:sldMasterId id="2147483663" r:id="rId9"/>
    <p:sldMasterId id="2147483665" r:id="rId10"/>
    <p:sldMasterId id="2147483667" r:id="rId11"/>
    <p:sldMasterId id="2147483669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800" cy="87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3575160" y="204840"/>
            <a:ext cx="5111280" cy="438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87C907E-D7A7-45BB-B5A3-A39D6CA369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800" cy="87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3575160" y="204840"/>
            <a:ext cx="5111280" cy="438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600D751-7C80-4CFC-B34B-410914E04C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03BDE3C-D4D7-4EA8-B275-01D80847D13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1A76EBC-B056-4073-8483-D785E213EC6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800" cy="87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3575160" y="204840"/>
            <a:ext cx="5111280" cy="438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7093D91D-937F-4FA6-A463-2ADC05A3969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8345C944-A206-4849-91CF-BA38C8851B5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800" cy="87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3575160" y="204840"/>
            <a:ext cx="2494080" cy="438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6194160" y="204840"/>
            <a:ext cx="2494080" cy="438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B4E63BD9-1865-4687-B829-63409C31125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3D683DA0-A2AC-4F26-AA49-8CC83516775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800" cy="87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D944D3B1-8426-4D5B-BDA0-A72B538D36B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958CBB32-1115-4617-97DC-4A8DCB19BFA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E51E69B6-A9E4-4586-A89D-346F4AA80F2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59926E0C-E5A6-496B-BC63-B87454129BD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6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7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8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9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10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1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1597680"/>
            <a:ext cx="7772040" cy="110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329A9E2-8B13-4FBC-B1F5-9C5E6B9F6C52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Cliquez pour éditer le format du plan de texte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Second niveau de plan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Troisième niveau de plan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Quatrième niveau de plan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Cinquième niveau de plan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Sixième niveau de plan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Septième niveau de plan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4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5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6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0F3D9C-37F3-435E-BB8B-8DF8457D3845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629400" y="205920"/>
            <a:ext cx="2057040" cy="438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205920"/>
            <a:ext cx="6019560" cy="438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7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8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9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E34F15-923A-443E-8D00-7E9EE1F1C370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4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0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1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2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769F65B-8830-47D6-8CDA-D59B5792647C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6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22160" y="3305160"/>
            <a:ext cx="7772040" cy="102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buNone/>
            </a:pPr>
            <a:r>
              <a:rPr b="1" lang="en-US" sz="3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22160" y="2180160"/>
            <a:ext cx="7772040" cy="112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3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4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5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BD74D70-9489-4A48-84BE-ED51F5B5AC44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8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403812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48320" y="1200240"/>
            <a:ext cx="403812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B36512E-C609-4B3F-83C5-9FD16C4AEC6D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0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151280"/>
            <a:ext cx="403992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457200" y="1631160"/>
            <a:ext cx="4039920" cy="296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4645080" y="1151280"/>
            <a:ext cx="404136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4645080" y="1631160"/>
            <a:ext cx="4041360" cy="296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dt" idx="19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ftr" idx="20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21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E145C89-2D5B-4C07-834C-29BAE144F0B6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dt" idx="22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ftr" idx="23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sldNum" idx="24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C352E01-08DC-41F4-84BD-D53B82FA057F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4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dt" idx="25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ftr" idx="26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27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988939-442C-494F-B796-D2883EAE8A21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6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800" cy="87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3575160" y="204840"/>
            <a:ext cx="5111280" cy="438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57200" y="1076400"/>
            <a:ext cx="3007800" cy="351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dt" idx="28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ftr" idx="29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 type="sldNum" idx="30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3CF458D-11A7-4948-AAE5-EEFC2FAE0F3A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8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792440" y="3600360"/>
            <a:ext cx="5486040" cy="4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1792440" y="459720"/>
            <a:ext cx="5486040" cy="3085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Cliquez pour éditer le format du plan de texte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niveau de plan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Troisième niveau de plan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Quatrième niveau de plan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Cinquième niveau de plan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Sixième niveau de plan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Septième niveau de plan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1792440" y="4025520"/>
            <a:ext cx="5486040" cy="60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dt" idx="31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ftr" idx="32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PlaceHolder 6"/>
          <p:cNvSpPr>
            <a:spLocks noGrp="1"/>
          </p:cNvSpPr>
          <p:nvPr>
            <p:ph type="sldNum" idx="33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E55EE37-424A-4515-8288-84836D72F62B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0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https://github.com/SachaEmmanuelTorres/3w_quebec_2026" TargetMode="External"/><Relationship Id="rId2" Type="http://schemas.openxmlformats.org/officeDocument/2006/relationships/hyperlink" Target="https://sachaemmanueltorres.github.io" TargetMode="External"/><Relationship Id="rId3" Type="http://schemas.openxmlformats.org/officeDocument/2006/relationships/hyperlink" Target="https://www.linkedin.com/in/sachatorres" TargetMode="External"/><Relationship Id="rId4" Type="http://schemas.openxmlformats.org/officeDocument/2006/relationships/image" Target="../media/image1.png"/><Relationship Id="rId5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85800" y="1597680"/>
            <a:ext cx="7772040" cy="110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IA Locale &amp; Open Source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ubTitle"/>
          </p:nvPr>
        </p:nvSpPr>
        <p:spPr>
          <a:xfrm>
            <a:off x="1371600" y="2914560"/>
            <a:ext cx="6400440" cy="131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br>
              <a:rPr sz="2400"/>
            </a:br>
            <a:br>
              <a:rPr sz="2400"/>
            </a:br>
            <a:r>
              <a:rPr b="0" lang="fr-FR" sz="24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3W_Québec - UQAM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dt" idx="34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23 Avril 2026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 txBox="1"/>
          <p:nvPr/>
        </p:nvSpPr>
        <p:spPr>
          <a:xfrm>
            <a:off x="1887120" y="3985920"/>
            <a:ext cx="180720" cy="34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1980000" y="900000"/>
            <a:ext cx="6840000" cy="23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fr-FR" sz="2200" spc="-1" strike="noStrike">
                <a:solidFill>
                  <a:srgbClr val="000000"/>
                </a:solidFill>
                <a:latin typeface="Arial"/>
              </a:rPr>
              <a:t>* LOCALE &amp; LÉGER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fr-FR" sz="2200" spc="-1" strike="noStrike">
                <a:solidFill>
                  <a:srgbClr val="000000"/>
                </a:solidFill>
                <a:latin typeface="Arial"/>
              </a:rPr>
              <a:t>* OPEN SOURCE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fr-FR" sz="2200" spc="-1" strike="noStrike">
                <a:solidFill>
                  <a:srgbClr val="000000"/>
                </a:solidFill>
                <a:latin typeface="Arial"/>
              </a:rPr>
              <a:t>* SLOW SCIENCE &amp; ASIMOV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Programme de la Présentation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Support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Présentation théorique (Architecture &amp; Concepts).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Démo V1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Agent RAG de base (Normes ISO) -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agent_rag.py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Démo V2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Veille Technologique (Claude/Anthropic) -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agent_rag_v2.py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Configuration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Mise en place du serveur local Ollama.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ourier New"/>
              </a:rPr>
              <a:t>export OLLAMA_MODELS="/media/sacha/datas/3w_quebec_22_avril_2026/models"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ourier New"/>
              </a:rPr>
              <a:t>ollama serve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IA en Local : L’Approche Moderne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Source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Hugging Face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Stratégie :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Modèles à jour (Latest)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Petits modèles (Efficient)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Modèle par action (Task-Specific)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Gestion &amp; Interfaces LLM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Llama.cpp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Le moteur haute performance.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OLLAMA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Simplicité de déploiement et gestion des modèles.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OpenCode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Interface et outils ouverts.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Agents &amp; RAG (Retrieval Augmented Generation)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Agents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Autonomie de réflexion et d’exécution.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RAG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Injection de contexte métier en temps réel.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Avantage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Réduction des hallucinations et données fraîches.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Le Protocole MCP (Model-Context-Protocol)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Définition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Protocole standardisé par Anthropic.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Rôle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Exposer des capacités, outils et données aux modèles.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Sécurité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Accès structuré, sûr et autorisé.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Code MCP (1/2) : La Logique Python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007020"/>
                </a:solidFill>
                <a:latin typeface="Courier New"/>
              </a:rPr>
              <a:t>def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check_disk_usage():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   </a:t>
            </a:r>
            <a:r>
              <a:rPr b="1" lang="en-US" sz="1800" spc="-1" strike="noStrike">
                <a:solidFill>
                  <a:srgbClr val="008000"/>
                </a:solidFill>
                <a:latin typeface="Courier New"/>
              </a:rPr>
              <a:t>import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shutil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   total, used, free </a:t>
            </a:r>
            <a:r>
              <a:rPr b="0" lang="en-US" sz="1800" spc="-1" strike="noStrike">
                <a:solidFill>
                  <a:srgbClr val="666666"/>
                </a:solidFill>
                <a:latin typeface="Courier New"/>
              </a:rPr>
              <a:t>=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shutil.disk_usage(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"/"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)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   </a:t>
            </a:r>
            <a:r>
              <a:rPr b="1" lang="en-US" sz="1800" spc="-1" strike="noStrike">
                <a:solidFill>
                  <a:srgbClr val="007020"/>
                </a:solidFill>
                <a:latin typeface="Courier New"/>
              </a:rPr>
              <a:t>return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{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"total"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: total, 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"used"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: used, 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"free"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: free}</a:t>
            </a:r>
            <a:br>
              <a:rPr sz="1800"/>
            </a:br>
            <a:br>
              <a:rPr sz="1800"/>
            </a:br>
            <a:r>
              <a:rPr b="0" i="1" lang="en-US" sz="1800" spc="-1" strike="noStrike">
                <a:solidFill>
                  <a:srgbClr val="60a0b0"/>
                </a:solidFill>
                <a:latin typeface="Courier New"/>
              </a:rPr>
              <a:t># Initialisation du serveur</a:t>
            </a:r>
            <a:br>
              <a:rPr sz="1800"/>
            </a:br>
            <a:r>
              <a:rPr b="1" lang="en-US" sz="1800" spc="-1" strike="noStrike">
                <a:solidFill>
                  <a:srgbClr val="008000"/>
                </a:solidFill>
                <a:latin typeface="Courier New"/>
              </a:rPr>
              <a:t>from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mcp.server </a:t>
            </a:r>
            <a:r>
              <a:rPr b="1" lang="en-US" sz="1800" spc="-1" strike="noStrike">
                <a:solidFill>
                  <a:srgbClr val="008000"/>
                </a:solidFill>
                <a:latin typeface="Courier New"/>
              </a:rPr>
              <a:t>import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Server</a:t>
            </a:r>
            <a:br>
              <a:rPr sz="1800"/>
            </a:br>
            <a:r>
              <a:rPr b="1" lang="en-US" sz="1800" spc="-1" strike="noStrike">
                <a:solidFill>
                  <a:srgbClr val="008000"/>
                </a:solidFill>
                <a:latin typeface="Courier New"/>
              </a:rPr>
              <a:t>from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mcp.types </a:t>
            </a:r>
            <a:r>
              <a:rPr b="1" lang="en-US" sz="1800" spc="-1" strike="noStrike">
                <a:solidFill>
                  <a:srgbClr val="008000"/>
                </a:solidFill>
                <a:latin typeface="Courier New"/>
              </a:rPr>
              <a:t>import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Tool, Schema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server </a:t>
            </a:r>
            <a:r>
              <a:rPr b="0" lang="en-US" sz="1800" spc="-1" strike="noStrike">
                <a:solidFill>
                  <a:srgbClr val="666666"/>
                </a:solidFill>
                <a:latin typeface="Courier New"/>
              </a:rPr>
              <a:t>=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Server()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Code MCP (2/2) : Déclaration du Tool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410760" y="900000"/>
            <a:ext cx="8229240" cy="383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7d9029"/>
                </a:solidFill>
                <a:latin typeface="Courier New"/>
              </a:rPr>
              <a:t>@server.tool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(Tool(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   name</a:t>
            </a:r>
            <a:r>
              <a:rPr b="0" lang="en-US" sz="1800" spc="-1" strike="noStrike">
                <a:solidFill>
                  <a:srgbClr val="666666"/>
                </a:solidFill>
                <a:latin typeface="Courier New"/>
              </a:rPr>
              <a:t>=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"check_disk"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,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   description</a:t>
            </a:r>
            <a:r>
              <a:rPr b="0" lang="en-US" sz="1800" spc="-1" strike="noStrike">
                <a:solidFill>
                  <a:srgbClr val="666666"/>
                </a:solidFill>
                <a:latin typeface="Courier New"/>
              </a:rPr>
              <a:t>=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"Returns disk usage stats"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,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   input_schema</a:t>
            </a:r>
            <a:r>
              <a:rPr b="0" lang="en-US" sz="1800" spc="-1" strike="noStrike">
                <a:solidFill>
                  <a:srgbClr val="666666"/>
                </a:solidFill>
                <a:latin typeface="Courier New"/>
              </a:rPr>
              <a:t>=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Schema(</a:t>
            </a:r>
            <a:r>
              <a:rPr b="0" lang="en-US" sz="1800" spc="-1" strike="noStrike">
                <a:solidFill>
                  <a:srgbClr val="008000"/>
                </a:solidFill>
                <a:latin typeface="Courier New"/>
              </a:rPr>
              <a:t>type</a:t>
            </a:r>
            <a:r>
              <a:rPr b="0" lang="en-US" sz="1800" spc="-1" strike="noStrike">
                <a:solidFill>
                  <a:srgbClr val="666666"/>
                </a:solidFill>
                <a:latin typeface="Courier New"/>
              </a:rPr>
              <a:t>=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"object"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, properties</a:t>
            </a:r>
            <a:r>
              <a:rPr b="0" lang="en-US" sz="1800" spc="-1" strike="noStrike">
                <a:solidFill>
                  <a:srgbClr val="666666"/>
                </a:solidFill>
                <a:latin typeface="Courier New"/>
              </a:rPr>
              <a:t>=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{}),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   output_schema</a:t>
            </a:r>
            <a:r>
              <a:rPr b="0" lang="en-US" sz="1800" spc="-1" strike="noStrike">
                <a:solidFill>
                  <a:srgbClr val="666666"/>
                </a:solidFill>
                <a:latin typeface="Courier New"/>
              </a:rPr>
              <a:t>=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Schema(</a:t>
            </a:r>
            <a:r>
              <a:rPr b="0" lang="en-US" sz="1800" spc="-1" strike="noStrike">
                <a:solidFill>
                  <a:srgbClr val="008000"/>
                </a:solidFill>
                <a:latin typeface="Courier New"/>
              </a:rPr>
              <a:t>type</a:t>
            </a:r>
            <a:r>
              <a:rPr b="0" lang="en-US" sz="1800" spc="-1" strike="noStrike">
                <a:solidFill>
                  <a:srgbClr val="666666"/>
                </a:solidFill>
                <a:latin typeface="Courier New"/>
              </a:rPr>
              <a:t>=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"object"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, properties</a:t>
            </a:r>
            <a:r>
              <a:rPr b="0" lang="en-US" sz="1800" spc="-1" strike="noStrike">
                <a:solidFill>
                  <a:srgbClr val="666666"/>
                </a:solidFill>
                <a:latin typeface="Courier New"/>
              </a:rPr>
              <a:t>=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{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       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"total"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: {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"type"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: 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"number"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},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       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"used"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: {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"type"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: 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"number"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},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       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"free"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: {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"type"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: </a:t>
            </a:r>
            <a:r>
              <a:rPr b="0" lang="en-US" sz="1800" spc="-1" strike="noStrike">
                <a:solidFill>
                  <a:srgbClr val="4070a0"/>
                </a:solidFill>
                <a:latin typeface="Courier New"/>
              </a:rPr>
              <a:t>"number"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}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   })</a:t>
            </a:r>
            <a:br>
              <a:rPr sz="2400"/>
            </a:b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))</a:t>
            </a:r>
            <a:br>
              <a:rPr sz="1800"/>
            </a:br>
            <a:r>
              <a:rPr b="1" lang="en-US" sz="1800" spc="-1" strike="noStrike">
                <a:solidFill>
                  <a:srgbClr val="007020"/>
                </a:solidFill>
                <a:latin typeface="Courier New"/>
              </a:rPr>
              <a:t>def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check_disk_tool(_args):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   </a:t>
            </a:r>
            <a:r>
              <a:rPr b="1" lang="en-US" sz="1800" spc="-1" strike="noStrike">
                <a:solidFill>
                  <a:srgbClr val="007020"/>
                </a:solidFill>
                <a:latin typeface="Courier New"/>
              </a:rPr>
              <a:t>return</a:t>
            </a: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 check_disk_usage()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Courier New"/>
              </a:rPr>
              <a:t>server.run()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Script : agent_rag.py (V1)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Concept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RAG de base + MCP Browser.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LLMs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phi3:mini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(Plan) &amp;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qwen2.5:3b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(Synthèse).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Rôle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Automatise la veille sur les normes ISO via ChromaDB.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Script : agent_rag_v2.py (V2)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Concept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Veille Technologique Comparative.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Outils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mxbai-embed-large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pour la recherche sémantique.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Rôle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Compare le Web (Source fraîche) et le RAG (Savoir interne) pour une synthèse pro sur Anthropic/Claude.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Script : trois_models_action_web.py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Concept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Orchestration Multi-Modèles.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LLMs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llama3.2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,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phi3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,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qwen2.5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Rôle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Utilise chaque modèle pour sa force spécifique (Réflexion, Navigation, Rédaction).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Script : mcp_browser_action.py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Concept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Intégration Directe MCP.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Outils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Client Python MCP + Puppeteer Server.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Rôle 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Pilotage pur du navigateur via le protocole standardisé.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800" cy="87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Ressources &amp; Contact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457200" y="1076400"/>
            <a:ext cx="3007800" cy="351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chemeClr val="dk1"/>
                </a:solidFill>
                <a:latin typeface="Calibri"/>
              </a:rPr>
              <a:t>Repo GitHub :</a:t>
            </a: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1050" spc="-1" strike="noStrike" u="sng">
                <a:solidFill>
                  <a:schemeClr val="dk1"/>
                </a:solidFill>
                <a:uFillTx/>
                <a:latin typeface="Calibri"/>
                <a:hlinkClick r:id="rId1"/>
              </a:rPr>
              <a:t>SachaEmmanuelTorres/3w_quebec_2026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chemeClr val="dk1"/>
                </a:solidFill>
                <a:latin typeface="Calibri"/>
              </a:rPr>
              <a:t>Portfolio :</a:t>
            </a: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1050" spc="-1" strike="noStrike" u="sng">
                <a:solidFill>
                  <a:schemeClr val="dk1"/>
                </a:solidFill>
                <a:uFillTx/>
                <a:latin typeface="Calibri"/>
                <a:hlinkClick r:id="rId2"/>
              </a:rPr>
              <a:t>sachaemmanueltorres.github.io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chemeClr val="dk1"/>
                </a:solidFill>
                <a:latin typeface="Calibri"/>
              </a:rPr>
              <a:t>LinkedIn :</a:t>
            </a: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1050" spc="-1" strike="noStrike" u="sng">
                <a:solidFill>
                  <a:schemeClr val="dk1"/>
                </a:solidFill>
                <a:uFillTx/>
                <a:latin typeface="Calibri"/>
                <a:hlinkClick r:id="rId3"/>
              </a:rPr>
              <a:t>linkedin.com/in/sachatorres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97" name="Picture 1" descr="github_qr.png"/>
          <p:cNvPicPr/>
          <p:nvPr/>
        </p:nvPicPr>
        <p:blipFill>
          <a:blip r:embed="rId4"/>
          <a:stretch/>
        </p:blipFill>
        <p:spPr>
          <a:xfrm>
            <a:off x="3936960" y="203040"/>
            <a:ext cx="4381200" cy="4381200"/>
          </a:xfrm>
          <a:prstGeom prst="rect">
            <a:avLst/>
          </a:prstGeom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2026-04-22T14:59:18Z</dcterms:created>
  <dc:creator>3W_Québec - UQAM</dc:creator>
  <dc:description/>
  <dc:language>fr-FR</dc:language>
  <cp:lastModifiedBy/>
  <dcterms:modified xsi:type="dcterms:W3CDTF">2026-04-23T08:37:36Z</dcterms:modified>
  <cp:revision>3</cp:revision>
  <dc:subject/>
  <dc:title>IA Locale &amp; Open Source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 Avril 2026</vt:lpwstr>
  </property>
</Properties>
</file>