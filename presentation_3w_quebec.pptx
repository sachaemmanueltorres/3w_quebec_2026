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IA Locale &amp; Open Source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3W_Québec - UQAM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 Avril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Programme de la Présentation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Support :</a:t>
            </a:r>
            <a:r>
              <a:rPr/>
              <a:t> Présentation théorique (Architecture &amp; Concepts).</a:t>
            </a:r>
          </a:p>
          <a:p>
            <a:pPr lvl="0" indent="-342900" marL="342900">
              <a:buAutoNum type="arabicPeriod"/>
            </a:pPr>
            <a:r>
              <a:rPr b="1"/>
              <a:t>Démo V1 :</a:t>
            </a:r>
            <a:r>
              <a:rPr/>
              <a:t> Agent RAG de base (Normes ISO) - </a:t>
            </a:r>
            <a:r>
              <a:rPr>
                <a:latin typeface="Courier"/>
              </a:rPr>
              <a:t>agent_rag.py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Démo V2 :</a:t>
            </a:r>
            <a:r>
              <a:rPr/>
              <a:t> Veille Technologique (Claude/Anthropic) - </a:t>
            </a:r>
            <a:r>
              <a:rPr>
                <a:latin typeface="Courier"/>
              </a:rPr>
              <a:t>agent_rag_v2.py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Configuration :</a:t>
            </a:r>
            <a:r>
              <a:rPr/>
              <a:t> Mise en place du serveur local Ollama.</a:t>
            </a:r>
          </a:p>
          <a:p>
            <a:pPr lvl="1"/>
            <a:r>
              <a:rPr>
                <a:latin typeface="Courier"/>
              </a:rPr>
              <a:t>export OLLAMA_MODELS="/media/sacha/datas/3w_quebec_22_avril_2026/models"</a:t>
            </a:r>
          </a:p>
          <a:p>
            <a:pPr lvl="1"/>
            <a:r>
              <a:rPr>
                <a:latin typeface="Courier"/>
              </a:rPr>
              <a:t>ollama serve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en Local : L’Approche Moderne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:</a:t>
            </a:r>
            <a:r>
              <a:rPr/>
              <a:t> Hugging Face</a:t>
            </a:r>
          </a:p>
          <a:p>
            <a:pPr lvl="0"/>
            <a:r>
              <a:rPr b="1"/>
              <a:t>Stratégie :</a:t>
            </a:r>
          </a:p>
          <a:p>
            <a:pPr lvl="1"/>
            <a:r>
              <a:rPr/>
              <a:t>Modèles à jour (Latest)</a:t>
            </a:r>
          </a:p>
          <a:p>
            <a:pPr lvl="1"/>
            <a:r>
              <a:rPr/>
              <a:t>Petits modèles (Efficient)</a:t>
            </a:r>
          </a:p>
          <a:p>
            <a:pPr lvl="1"/>
            <a:r>
              <a:rPr/>
              <a:t>Modèle par action (Task-Specific)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Gestion &amp; Interfaces LLM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Llama.cpp :</a:t>
            </a:r>
            <a:r>
              <a:rPr/>
              <a:t> Le moteur haute performance.</a:t>
            </a:r>
          </a:p>
          <a:p>
            <a:pPr lvl="0"/>
            <a:r>
              <a:rPr b="1"/>
              <a:t>OLLAMA :</a:t>
            </a:r>
            <a:r>
              <a:rPr/>
              <a:t> Simplicité de déploiement et gestion des modèles.</a:t>
            </a:r>
          </a:p>
          <a:p>
            <a:pPr lvl="0"/>
            <a:r>
              <a:rPr b="1"/>
              <a:t>OpenCode :</a:t>
            </a:r>
            <a:r>
              <a:rPr/>
              <a:t> Interface et outils ouverts.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Agents &amp; RAG (Retrieval Augmented Generation)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Agents :</a:t>
            </a:r>
            <a:r>
              <a:rPr/>
              <a:t> Autonomie de réflexion et d’exécution.</a:t>
            </a:r>
          </a:p>
          <a:p>
            <a:pPr lvl="0"/>
            <a:r>
              <a:rPr b="1"/>
              <a:t>RAG :</a:t>
            </a:r>
            <a:r>
              <a:rPr/>
              <a:t> Injection de contexte métier en temps réel.</a:t>
            </a:r>
          </a:p>
          <a:p>
            <a:pPr lvl="0"/>
            <a:r>
              <a:rPr b="1"/>
              <a:t>Avantage :</a:t>
            </a:r>
            <a:r>
              <a:rPr/>
              <a:t> Réduction des hallucinations et données fraîches.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Protocole MCP (Model-Context-Protocol)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Définition :</a:t>
            </a:r>
            <a:r>
              <a:rPr/>
              <a:t> Protocole standardisé par Anthropic.</a:t>
            </a:r>
          </a:p>
          <a:p>
            <a:pPr lvl="0"/>
            <a:r>
              <a:rPr b="1"/>
              <a:t>Rôle :</a:t>
            </a:r>
            <a:r>
              <a:rPr/>
              <a:t> Exposer des capacités, outils et données aux modèles.</a:t>
            </a:r>
          </a:p>
          <a:p>
            <a:pPr lvl="0"/>
            <a:r>
              <a:rPr b="1"/>
              <a:t>Sécurité :</a:t>
            </a:r>
            <a:r>
              <a:rPr/>
              <a:t> Accès structuré, sûr et autorisé.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MCP (1/2) : La Logique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check_disk_usage():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shutil</a:t>
            </a:r>
            <a:br/>
            <a:r>
              <a:rPr>
                <a:latin typeface="Courier"/>
              </a:rPr>
              <a:t>    total, used, free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shutil.disk_usage(</a:t>
            </a:r>
            <a:r>
              <a:rPr>
                <a:solidFill>
                  <a:srgbClr val="4070A0"/>
                </a:solidFill>
                <a:latin typeface="Courier"/>
              </a:rPr>
              <a:t>"/"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{</a:t>
            </a:r>
            <a:r>
              <a:rPr>
                <a:solidFill>
                  <a:srgbClr val="4070A0"/>
                </a:solidFill>
                <a:latin typeface="Courier"/>
              </a:rPr>
              <a:t>"total"</a:t>
            </a:r>
            <a:r>
              <a:rPr>
                <a:latin typeface="Courier"/>
              </a:rPr>
              <a:t>: total, </a:t>
            </a:r>
            <a:r>
              <a:rPr>
                <a:solidFill>
                  <a:srgbClr val="4070A0"/>
                </a:solidFill>
                <a:latin typeface="Courier"/>
              </a:rPr>
              <a:t>"used"</a:t>
            </a:r>
            <a:r>
              <a:rPr>
                <a:latin typeface="Courier"/>
              </a:rPr>
              <a:t>: used, </a:t>
            </a:r>
            <a:r>
              <a:rPr>
                <a:solidFill>
                  <a:srgbClr val="4070A0"/>
                </a:solidFill>
                <a:latin typeface="Courier"/>
              </a:rPr>
              <a:t>"free"</a:t>
            </a:r>
            <a:r>
              <a:rPr>
                <a:latin typeface="Courier"/>
              </a:rPr>
              <a:t>: free}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Initialisation du serveur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mcp.server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Server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mcp.types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Tool, Schema</a:t>
            </a:r>
            <a:br/>
            <a:r>
              <a:rPr>
                <a:latin typeface="Courier"/>
              </a:rPr>
              <a:t>server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Server()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MCP (2/2) : Déclaration du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@server.tool</a:t>
            </a:r>
            <a:r>
              <a:rPr>
                <a:latin typeface="Courier"/>
              </a:rPr>
              <a:t>(Tool(</a:t>
            </a:r>
            <a:br/>
            <a:r>
              <a:rPr>
                <a:latin typeface="Courier"/>
              </a:rPr>
              <a:t>    name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"check_disk"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description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"Returns disk usage stats"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input_schema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Schema(</a:t>
            </a:r>
            <a:r>
              <a:rPr>
                <a:solidFill>
                  <a:srgbClr val="008000"/>
                </a:solidFill>
                <a:latin typeface="Courier"/>
              </a:rPr>
              <a:t>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"object"</a:t>
            </a:r>
            <a:r>
              <a:rPr>
                <a:latin typeface="Courier"/>
              </a:rPr>
              <a:t>, properties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{}),</a:t>
            </a:r>
            <a:br/>
            <a:r>
              <a:rPr>
                <a:latin typeface="Courier"/>
              </a:rPr>
              <a:t>    output_schema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Schema(</a:t>
            </a:r>
            <a:r>
              <a:rPr>
                <a:solidFill>
                  <a:srgbClr val="008000"/>
                </a:solidFill>
                <a:latin typeface="Courier"/>
              </a:rPr>
              <a:t>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"object"</a:t>
            </a:r>
            <a:r>
              <a:rPr>
                <a:latin typeface="Courier"/>
              </a:rPr>
              <a:t>, properties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"total"</a:t>
            </a:r>
            <a:r>
              <a:rPr>
                <a:latin typeface="Courier"/>
              </a:rPr>
              <a:t>: {</a:t>
            </a:r>
            <a:r>
              <a:rPr>
                <a:solidFill>
                  <a:srgbClr val="4070A0"/>
                </a:solidFill>
                <a:latin typeface="Courier"/>
              </a:rPr>
              <a:t>"type"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"number"</a:t>
            </a:r>
            <a:r>
              <a:rPr>
                <a:latin typeface="Courier"/>
              </a:rPr>
              <a:t>},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"used"</a:t>
            </a:r>
            <a:r>
              <a:rPr>
                <a:latin typeface="Courier"/>
              </a:rPr>
              <a:t>: {</a:t>
            </a:r>
            <a:r>
              <a:rPr>
                <a:solidFill>
                  <a:srgbClr val="4070A0"/>
                </a:solidFill>
                <a:latin typeface="Courier"/>
              </a:rPr>
              <a:t>"type"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"number"</a:t>
            </a:r>
            <a:r>
              <a:rPr>
                <a:latin typeface="Courier"/>
              </a:rPr>
              <a:t>},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"free"</a:t>
            </a:r>
            <a:r>
              <a:rPr>
                <a:latin typeface="Courier"/>
              </a:rPr>
              <a:t>: {</a:t>
            </a:r>
            <a:r>
              <a:rPr>
                <a:solidFill>
                  <a:srgbClr val="4070A0"/>
                </a:solidFill>
                <a:latin typeface="Courier"/>
              </a:rPr>
              <a:t>"type"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"number"</a:t>
            </a:r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    })</a:t>
            </a:r>
            <a:br/>
            <a:r>
              <a:rPr>
                <a:latin typeface="Courier"/>
              </a:rPr>
              <a:t>))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check_disk_tool(_args):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check_disk_usage()</a:t>
            </a:r>
            <a:br/>
            <a:r>
              <a:rPr>
                <a:latin typeface="Courier"/>
              </a:rPr>
              <a:t>server.run()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Script : agent_rag.py (V1)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Concept :</a:t>
            </a:r>
            <a:r>
              <a:rPr/>
              <a:t> RAG de base + MCP Browser.</a:t>
            </a:r>
          </a:p>
          <a:p>
            <a:pPr lvl="0"/>
            <a:r>
              <a:rPr b="1"/>
              <a:t>LLMs :</a:t>
            </a:r>
            <a:r>
              <a:rPr/>
              <a:t> </a:t>
            </a:r>
            <a:r>
              <a:rPr>
                <a:latin typeface="Courier"/>
              </a:rPr>
              <a:t>phi3:mini</a:t>
            </a:r>
            <a:r>
              <a:rPr/>
              <a:t> (Plan) &amp; </a:t>
            </a:r>
            <a:r>
              <a:rPr>
                <a:latin typeface="Courier"/>
              </a:rPr>
              <a:t>qwen2.5:3b</a:t>
            </a:r>
            <a:r>
              <a:rPr/>
              <a:t> (Synthèse).</a:t>
            </a:r>
          </a:p>
          <a:p>
            <a:pPr lvl="0"/>
            <a:r>
              <a:rPr b="1"/>
              <a:t>Rôle :</a:t>
            </a:r>
            <a:r>
              <a:rPr/>
              <a:t> Automatise la veille sur les normes ISO via ChromaDB.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Script : agent_rag_v2.py (V2)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Concept :</a:t>
            </a:r>
            <a:r>
              <a:rPr/>
              <a:t> Veille Technologique Comparative.</a:t>
            </a:r>
          </a:p>
          <a:p>
            <a:pPr lvl="0"/>
            <a:r>
              <a:rPr b="1"/>
              <a:t>Outils :</a:t>
            </a:r>
            <a:r>
              <a:rPr/>
              <a:t> </a:t>
            </a:r>
            <a:r>
              <a:rPr>
                <a:latin typeface="Courier"/>
              </a:rPr>
              <a:t>mxbai-embed-large</a:t>
            </a:r>
            <a:r>
              <a:rPr/>
              <a:t> pour la recherche sémantique.</a:t>
            </a:r>
          </a:p>
          <a:p>
            <a:pPr lvl="0"/>
            <a:r>
              <a:rPr b="1"/>
              <a:t>Rôle :</a:t>
            </a:r>
            <a:r>
              <a:rPr/>
              <a:t> Compare le Web (Source fraîche) et le RAG (Savoir interne) pour une synthèse pro sur Anthropic/Claude.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Script : trois_models_action_web.py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Concept :</a:t>
            </a:r>
            <a:r>
              <a:rPr/>
              <a:t> Orchestration Multi-Modèles.</a:t>
            </a:r>
          </a:p>
          <a:p>
            <a:pPr lvl="0"/>
            <a:r>
              <a:rPr b="1"/>
              <a:t>LLMs :</a:t>
            </a:r>
            <a:r>
              <a:rPr/>
              <a:t> </a:t>
            </a:r>
            <a:r>
              <a:rPr>
                <a:latin typeface="Courier"/>
              </a:rPr>
              <a:t>llama3.2</a:t>
            </a:r>
            <a:r>
              <a:rPr/>
              <a:t>, </a:t>
            </a:r>
            <a:r>
              <a:rPr>
                <a:latin typeface="Courier"/>
              </a:rPr>
              <a:t>phi3</a:t>
            </a:r>
            <a:r>
              <a:rPr/>
              <a:t>, </a:t>
            </a:r>
            <a:r>
              <a:rPr>
                <a:latin typeface="Courier"/>
              </a:rPr>
              <a:t>qwen2.5</a:t>
            </a:r>
            <a:r>
              <a:rPr/>
              <a:t>.</a:t>
            </a:r>
          </a:p>
          <a:p>
            <a:pPr lvl="0"/>
            <a:r>
              <a:rPr b="1"/>
              <a:t>Rôle :</a:t>
            </a:r>
            <a:r>
              <a:rPr/>
              <a:t> Utilise chaque modèle pour sa force spécifique (Réflexion, Navigation, Rédaction).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Script : mcp_browser_action.py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Concept :</a:t>
            </a:r>
            <a:r>
              <a:rPr/>
              <a:t> Intégration Directe MCP.</a:t>
            </a:r>
          </a:p>
          <a:p>
            <a:pPr lvl="0"/>
            <a:r>
              <a:rPr b="1"/>
              <a:t>Outils :</a:t>
            </a:r>
            <a:r>
              <a:rPr/>
              <a:t> Client Python MCP + Puppeteer Server.</a:t>
            </a:r>
          </a:p>
          <a:p>
            <a:pPr lvl="0"/>
            <a:r>
              <a:rPr b="1"/>
              <a:t>Rôle :</a:t>
            </a:r>
            <a:r>
              <a:rPr/>
              <a:t> Pilotage pur du navigateur via le protocole standardisé.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Locale &amp; Open Source</dc:title>
  <dc:creator>3W_Québec - UQAM</dc:creator>
  <cp:keywords/>
  <dcterms:created xsi:type="dcterms:W3CDTF">2026-04-22T14:41:11Z</dcterms:created>
  <dcterms:modified xsi:type="dcterms:W3CDTF">2026-04-22T14:41:11Z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 Avril 2026</vt:lpwstr>
  </property>
</Properties>
</file>