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79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7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080" cy="87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0560" cy="438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6B89934-015C-44CC-A748-4E8AC9919761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080" cy="87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791977-1BF9-4AE5-BB50-25256D30D026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CC6EAD-0D4B-4417-8D8D-861865B104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435080" y="205200"/>
            <a:ext cx="125028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204840"/>
            <a:ext cx="6400440" cy="398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554160C-37E4-4977-B5B6-F255E4D352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C8859CE-1487-4D33-AD0B-AAC45CAFCF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9A5DDA3-2D30-4D73-B460-AD9B013763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2F0888-6F75-4895-A75E-D700DEF2AA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B53F85-1B6D-420A-8021-3EEB1D9EE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9A0FD35-BB65-4F45-93DE-D67F9D8D74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18B2435-608B-45E8-8313-B20F99F695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98800"/>
            <a:ext cx="82288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1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2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E70ADE2-75AF-4170-B0D1-FFC0CCE73E83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33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98800"/>
            <a:ext cx="82288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4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35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CAC536F-1637-4921-AC77-EA6766456E75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dt" idx="36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7435080" y="205200"/>
            <a:ext cx="1249920" cy="398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204840"/>
            <a:ext cx="640008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625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ftr" idx="37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sldNum" idx="38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A9029B-D2D8-4462-9F08-E7461E0F5D34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dt" idx="39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98800"/>
            <a:ext cx="82288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ftr" idx="40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41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FD5BB18-4045-4508-94BD-592680A8E4EE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dt" idx="42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98800"/>
            <a:ext cx="82288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25000" lnSpcReduction="1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ftr" idx="43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sldNum" idx="44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4D876C1-F773-4854-B3CE-513ADAD97FAE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dt" idx="45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52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53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EB02E1-2A19-4E74-A3CC-9504F07FC65A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54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46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47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732C940-231B-4279-A7EE-944D187A0815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48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58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59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D743BCD-62B9-42EE-BA48-CC804F14D18D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60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49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50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3236553-CEC0-4BC1-B38A-5ABD94E6728B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51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61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62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66767D0-83B4-4798-8142-D2E4E1BA84FA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63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55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56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4B9EED4-5CD4-4EEA-8163-2094E12C33F8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57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ECF8FDB5-79F9-4C39-A3E4-95462B66C6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7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8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3A40AE9-467A-40FC-8F83-40676BAC984B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9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435080" y="205200"/>
            <a:ext cx="1249920" cy="398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lstStyle>
            <a:lvl1pPr indent="0" algn="l">
              <a:buNone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204840"/>
            <a:ext cx="640008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0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1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3EB506E-E7A7-4D8F-AC91-A4D522E8A2FD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dt" idx="12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3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4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171C94-F25A-4745-BBA7-A0083FEC5FD8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dt" idx="15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ftr" idx="16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ldNum" idx="17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ECDFF81-D089-4D59-A370-8505C63A73FA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8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19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0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B310152-4DD1-437B-8A13-DBD7CA8C4E28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21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22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23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94DFB4D-2905-4E0E-823E-C014DA9C48F1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4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5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26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FC5E621-2AC9-4BE0-8A55-F88D44D6184B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7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ftr" idx="28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29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0FBEA9E-4149-4858-9F2D-991840AF5E9D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0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ftr" idx="64"/>
          </p:nvPr>
        </p:nvSpPr>
        <p:spPr>
          <a:xfrm>
            <a:off x="3124080" y="4767120"/>
            <a:ext cx="289440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65"/>
          </p:nvPr>
        </p:nvSpPr>
        <p:spPr>
          <a:xfrm>
            <a:off x="655308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9A8654F-329F-4AF5-839C-3462ADCD3625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dt" idx="66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github.com/SachaEmmanuelTorres/3w_quebec_2026" TargetMode="External"/><Relationship Id="rId2" Type="http://schemas.openxmlformats.org/officeDocument/2006/relationships/hyperlink" Target="https://sachaemmanueltorres.github.io" TargetMode="External"/><Relationship Id="rId3" Type="http://schemas.openxmlformats.org/officeDocument/2006/relationships/hyperlink" Target="https://www.linkedin.com/in/sachatorres" TargetMode="Externa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1320" cy="110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IA Locale &amp; Open Source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ubTitle"/>
          </p:nvPr>
        </p:nvSpPr>
        <p:spPr>
          <a:xfrm>
            <a:off x="1371600" y="2914560"/>
            <a:ext cx="6399720" cy="131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br>
              <a:rPr sz="2400"/>
            </a:br>
            <a:br>
              <a:rPr sz="2400"/>
            </a:br>
            <a:r>
              <a:rPr lang="fr-F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3W_Québec - UQAM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67"/>
          </p:nvPr>
        </p:nvSpPr>
        <p:spPr>
          <a:xfrm>
            <a:off x="457200" y="4767120"/>
            <a:ext cx="213264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23 Avril 2026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1887120" y="3985920"/>
            <a:ext cx="1800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1980000" y="900000"/>
            <a:ext cx="6839280" cy="23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LOCALE &amp; LÉGER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OPEN SOURCE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 SLOW SCIENCE &amp; ASIMOV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Programme de la Présentation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Support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Présentation théorique (Architecture &amp; Concepts).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Démo V1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Agent RAG de base (Normes ISO) -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agent_rag.py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Démo V2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Veille Technologique (Claude/Anthropic) -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agent_rag_v2.py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Configuration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Mise en place du serveur local Ollama.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SzPct val="75000"/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export OLLAMA_MODELS="/media/sacha/datas/3w_quebec_23_avril_2026/models"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SzPct val="75000"/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ollama serve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"/>
          <p:cNvPicPr/>
          <p:nvPr/>
        </p:nvPicPr>
        <p:blipFill>
          <a:blip r:embed="rId2"/>
          <a:stretch/>
        </p:blipFill>
        <p:spPr>
          <a:xfrm>
            <a:off x="-5760" y="73080"/>
            <a:ext cx="9143640" cy="498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IA en Local : L’Approche Moderne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Source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Hugging Face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Stratégie :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SzPct val="75000"/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Modèles à jour (Latest)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SzPct val="75000"/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Petits modèles (Efficient)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SzPct val="75000"/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Modèle par action (Task-Specific)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Gestion &amp; Interfaces LLM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Llama.cpp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Le moteur haute performance.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OLLAMA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Simplicité de déploiement et gestion des modèles.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OpenCode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Interface et outils ouverts.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Agents &amp; RAG (Retrieval Augmented Generation)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Agents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Autonomie de réflexion et d’exécution.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RAG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Injection de contexte métier en temps réel.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Avantage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Réduction des hallucinations et données fraîches.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 Protocole MCP (Model-Context-Protocol)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Définition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Protocole standardisé par Anthropic.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Exposer des capacités, outils et données aux modèles.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Sécurité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Accès structuré, sûr et autorisé.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Code MCP (1/2) : La Logique Python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007020"/>
                </a:solidFill>
                <a:effectLst/>
                <a:uFillTx/>
                <a:latin typeface="Courier New"/>
              </a:rPr>
              <a:t>def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check_disk_usage():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</a:t>
            </a:r>
            <a:r>
              <a:rPr lang="en-US" sz="1800" b="1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import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shutil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total, used, free 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shutil.disk_usage(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"/"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)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</a:t>
            </a:r>
            <a:r>
              <a:rPr lang="en-US" sz="1800" b="1" u="none" strike="noStrike">
                <a:solidFill>
                  <a:srgbClr val="007020"/>
                </a:solidFill>
                <a:effectLst/>
                <a:uFillTx/>
                <a:latin typeface="Courier New"/>
              </a:rPr>
              <a:t>return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{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"total"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total,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"used"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used,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"free"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free}</a:t>
            </a:r>
            <a:br>
              <a:rPr sz="1800"/>
            </a:br>
            <a:br>
              <a:rPr sz="1800"/>
            </a:br>
            <a:r>
              <a:rPr lang="en-US" sz="1800" b="0" i="1" u="none" strike="noStrike">
                <a:solidFill>
                  <a:srgbClr val="60A0B0"/>
                </a:solidFill>
                <a:effectLst/>
                <a:uFillTx/>
                <a:latin typeface="Courier New"/>
              </a:rPr>
              <a:t># Initialisation du serveur</a:t>
            </a:r>
            <a:br>
              <a:rPr sz="1800"/>
            </a:br>
            <a:r>
              <a:rPr lang="en-US" sz="1800" b="1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from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mcp.server </a:t>
            </a:r>
            <a:r>
              <a:rPr lang="en-US" sz="1800" b="1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import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Server</a:t>
            </a:r>
            <a:br>
              <a:rPr sz="1800"/>
            </a:br>
            <a:r>
              <a:rPr lang="en-US" sz="1800" b="1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from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mcp.types </a:t>
            </a:r>
            <a:r>
              <a:rPr lang="en-US" sz="1800" b="1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import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Tool, Schema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server 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Server()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Code MCP (2/2) : Déclaration du Tool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10760" y="900000"/>
            <a:ext cx="8228520" cy="38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7D9029"/>
                </a:solidFill>
                <a:effectLst/>
                <a:uFillTx/>
                <a:latin typeface="Courier New"/>
              </a:rPr>
              <a:t>@server.tool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(Tool(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name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"check_disk"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description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"Returns disk usage stats"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input_schema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Schema(</a:t>
            </a:r>
            <a:r>
              <a:rPr lang="en-US" sz="1800" b="0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type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"object"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 properties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{}),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output_schema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Schema(</a:t>
            </a:r>
            <a:r>
              <a:rPr lang="en-US" sz="1800" b="0" u="none" strike="noStrike">
                <a:solidFill>
                  <a:srgbClr val="008000"/>
                </a:solidFill>
                <a:effectLst/>
                <a:uFillTx/>
                <a:latin typeface="Courier New"/>
              </a:rPr>
              <a:t>type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"object"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 properties</a:t>
            </a:r>
            <a:r>
              <a:rPr lang="en-US" sz="18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=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{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   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"total"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{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"type"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"number"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},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   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"used"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{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"type"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"number"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},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   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"free"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{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"type"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: </a:t>
            </a:r>
            <a:r>
              <a:rPr lang="en-US" sz="1800" b="0" u="none" strike="noStrike">
                <a:solidFill>
                  <a:srgbClr val="4070A0"/>
                </a:solidFill>
                <a:effectLst/>
                <a:uFillTx/>
                <a:latin typeface="Courier New"/>
              </a:rPr>
              <a:t>"number"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}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})</a:t>
            </a:r>
            <a:br>
              <a:rPr sz="24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))</a:t>
            </a:r>
            <a:br>
              <a:rPr sz="1800"/>
            </a:br>
            <a:r>
              <a:rPr lang="en-US" sz="1800" b="1" u="none" strike="noStrike">
                <a:solidFill>
                  <a:srgbClr val="007020"/>
                </a:solidFill>
                <a:effectLst/>
                <a:uFillTx/>
                <a:latin typeface="Courier New"/>
              </a:rPr>
              <a:t>def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check_disk_tool(_args):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   </a:t>
            </a:r>
            <a:r>
              <a:rPr lang="en-US" sz="1800" b="1" u="none" strike="noStrike">
                <a:solidFill>
                  <a:srgbClr val="007020"/>
                </a:solidFill>
                <a:effectLst/>
                <a:uFillTx/>
                <a:latin typeface="Courier New"/>
              </a:rPr>
              <a:t>return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check_disk_usage()</a:t>
            </a:r>
            <a:br>
              <a:rPr sz="1800"/>
            </a:b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server.run()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Script : agent_rag.py (V1)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Concept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RAG de base + MCP Browser.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LLMs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phi3:mini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(Plan) &amp;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qwen2.5:3b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(Synthèse).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Automatise la veille sur les normes ISO via ChromaDB.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Script : agent_rag_v2.py (V2)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Concept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Veille Technologique Comparative.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Outils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mxbai-embed-large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pour la recherche sémantique.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Compare le Web (Source fraîche) et le RAG (Savoir interne) pour une synthèse pro sur Anthropic/Claude.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Script : trois_models_action_web.py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Concept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Orchestration Multi-Modèles.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LLMs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llama3.2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phi3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qwen2.5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Utilise chaque modèle pour sa force spécifique (Réflexion, Navigation, Rédaction).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8520" cy="85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Script : mcp_browser_action.py</a:t>
            </a:r>
            <a:endParaRPr lang="fr-F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8520" cy="339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Concept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Intégration Directe MCP.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Outils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Client Python MCP + Puppeteer Server.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 :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Pilotage pur du navigateur via le protocole standardisé.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080" cy="87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Ressources &amp; Contact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457200" y="1076400"/>
            <a:ext cx="3007080" cy="351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 GitHub :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05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SachaEmmanuelTorres/3w_quebec_2026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Portfolio :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05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sachaemmanueltorres.github.io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LinkedIn :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05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3"/>
              </a:rPr>
              <a:t>linkedin.com/in/sachatorres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0" u="sng" strike="noStrike">
                <a:solidFill>
                  <a:schemeClr val="dk1"/>
                </a:solidFill>
                <a:effectLst/>
                <a:uFillTx/>
                <a:latin typeface="Calibri"/>
              </a:rPr>
              <a:t>YouTube: @Les_Pinguoins_du_Monde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0" u="sng" strike="noStrike">
                <a:solidFill>
                  <a:schemeClr val="dk1"/>
                </a:solidFill>
                <a:effectLst/>
                <a:uFillTx/>
                <a:latin typeface="Calibri"/>
              </a:rPr>
              <a:t>Twitch: LesPinguoinsDuMonde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1" descr="github_qr.png"/>
          <p:cNvPicPr/>
          <p:nvPr/>
        </p:nvPicPr>
        <p:blipFill>
          <a:blip r:embed="rId4"/>
          <a:stretch/>
        </p:blipFill>
        <p:spPr>
          <a:xfrm>
            <a:off x="3936960" y="203040"/>
            <a:ext cx="4380480" cy="4380480"/>
          </a:xfrm>
          <a:prstGeom prst="rect">
            <a:avLst/>
          </a:prstGeom>
          <a:noFill/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</TotalTime>
  <Application>Collabora_Office/25.04.10.20260421$Linux_X86_64 LibreOffice_project/0d2e5eb0c80b95ea50bff3413d0aa12e36ec724f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2026-04-22T14:59:18Z</dcterms:created>
  <dc:creator>3W_Québec - UQAM</dc:creator>
  <dc:description/>
  <dc:language>fr-FR</dc:language>
  <cp:lastModifiedBy/>
  <dcterms:modified xsi:type="dcterms:W3CDTF">2026-04-23T19:10:35Z</dcterms:modified>
  <cp:revision>7</cp:revision>
  <dc:subject/>
  <dc:title>IA Locale &amp; Open Source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 Avril 2026</vt:lpwstr>
  </property>
</Properties>
</file>